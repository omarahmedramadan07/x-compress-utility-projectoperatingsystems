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9"/>
  </p:notesMasterIdLst>
  <p:handoutMasterIdLst>
    <p:handoutMasterId r:id="rId20"/>
  </p:handoutMasterIdLst>
  <p:sldIdLst>
    <p:sldId id="276" r:id="rId5"/>
    <p:sldId id="257" r:id="rId6"/>
    <p:sldId id="279" r:id="rId7"/>
    <p:sldId id="256" r:id="rId8"/>
    <p:sldId id="281" r:id="rId9"/>
    <p:sldId id="283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2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27" autoAdjust="0"/>
  </p:normalViewPr>
  <p:slideViewPr>
    <p:cSldViewPr snapToGrid="0">
      <p:cViewPr varScale="1">
        <p:scale>
          <a:sx n="92" d="100"/>
          <a:sy n="92" d="100"/>
        </p:scale>
        <p:origin x="288" y="62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667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46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56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0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B7A8-CD3C-7A24-04FD-21D506E5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76E53-360B-998B-F336-3F4D6BC46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2A389-79D8-81B8-2152-FC4851D13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119F6-34AF-5B11-7215-B3EDF2684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68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3EE2-9D34-BF7C-7E3A-7E2786448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F0D79-A22A-76E3-1D2A-9315564BC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5F412-D0FD-3EEA-9E7C-EF8D65AE5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09994-0C37-01D7-5611-9D72EBA1C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416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180B-65B4-6644-BA36-09889860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01B03-E0E1-D424-096B-A80B714BE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BFB5E-C4F8-4583-3201-5E320DAC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69877-5C59-8FCE-92B7-A08F6D3B0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866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42E9-AEA1-546F-372A-5B665649E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B70D-4F1C-7821-EE32-FB8C874D3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9A466-B570-0B7E-E736-B23EA1D9E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6E766-CC8A-59CF-8FBE-52A7EA065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09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66B6-7548-3CE7-0077-1E648CC8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C99AD-9C31-95FD-5C4C-542B6DB67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CEDCE-B253-E116-DC0D-70553B494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F0AD-3DB5-5AE7-0E8D-D8171D819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539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C11D-06BD-D9E7-C53C-17A4332B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A3916-6054-95C1-0A0C-0E52CF5FE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14D4D-3454-AD95-9EE9-5167A2A68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3CE78-3774-55C0-1FF1-F6A65947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31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97EB-5122-B903-30FE-890139AC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EFEC9-7CDC-F1C8-FAA8-4A8A0A0D2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2F030-1264-590A-0951-4B95F9072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8B906-7E20-F7AC-32B2-8F5CF3021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08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91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777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851" y="2165174"/>
            <a:ext cx="6118224" cy="155448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4194521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900405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66050" y="1079500"/>
            <a:ext cx="3884962" cy="2138400"/>
          </a:xfrm>
        </p:spPr>
        <p:txBody>
          <a:bodyPr anchor="b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66051" y="4113213"/>
            <a:ext cx="3884961" cy="1655762"/>
          </a:xfr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sz="2400" i="1"/>
            </a:lvl1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B0D3427-2AA8-987B-E83A-494604F72C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  <a:custGeom>
            <a:avLst/>
            <a:gdLst>
              <a:gd name="connsiteX0" fmla="*/ 6573720 w 6670675"/>
              <a:gd name="connsiteY0" fmla="*/ 0 h 5759450"/>
              <a:gd name="connsiteX1" fmla="*/ 6670675 w 6670675"/>
              <a:gd name="connsiteY1" fmla="*/ 0 h 5759450"/>
              <a:gd name="connsiteX2" fmla="*/ 6670675 w 6670675"/>
              <a:gd name="connsiteY2" fmla="*/ 5759450 h 5759450"/>
              <a:gd name="connsiteX3" fmla="*/ 0 w 6670675"/>
              <a:gd name="connsiteY3" fmla="*/ 5759450 h 5759450"/>
              <a:gd name="connsiteX4" fmla="*/ 0 w 6670675"/>
              <a:gd name="connsiteY4" fmla="*/ 5669502 h 5759450"/>
              <a:gd name="connsiteX5" fmla="*/ 6573720 w 6670675"/>
              <a:gd name="connsiteY5" fmla="*/ 5669502 h 5759450"/>
              <a:gd name="connsiteX6" fmla="*/ 0 w 6670675"/>
              <a:gd name="connsiteY6" fmla="*/ 0 h 5759450"/>
              <a:gd name="connsiteX7" fmla="*/ 6562411 w 6670675"/>
              <a:gd name="connsiteY7" fmla="*/ 0 h 5759450"/>
              <a:gd name="connsiteX8" fmla="*/ 6562411 w 6670675"/>
              <a:gd name="connsiteY8" fmla="*/ 5658193 h 5759450"/>
              <a:gd name="connsiteX9" fmla="*/ 0 w 6670675"/>
              <a:gd name="connsiteY9" fmla="*/ 5658193 h 575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70675" h="5759450">
                <a:moveTo>
                  <a:pt x="6573720" y="0"/>
                </a:moveTo>
                <a:lnTo>
                  <a:pt x="6670675" y="0"/>
                </a:lnTo>
                <a:lnTo>
                  <a:pt x="6670675" y="5759450"/>
                </a:lnTo>
                <a:lnTo>
                  <a:pt x="0" y="5759450"/>
                </a:lnTo>
                <a:lnTo>
                  <a:pt x="0" y="5669502"/>
                </a:lnTo>
                <a:lnTo>
                  <a:pt x="6573720" y="5669502"/>
                </a:lnTo>
                <a:close/>
                <a:moveTo>
                  <a:pt x="0" y="0"/>
                </a:moveTo>
                <a:lnTo>
                  <a:pt x="6562411" y="0"/>
                </a:lnTo>
                <a:lnTo>
                  <a:pt x="6562411" y="5658193"/>
                </a:lnTo>
                <a:lnTo>
                  <a:pt x="0" y="565819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1D4FB6FD-0D78-2F14-EC30-9013875CFD4A}"/>
              </a:ext>
            </a:extLst>
          </p:cNvPr>
          <p:cNvSpPr/>
          <p:nvPr userDrawn="1"/>
        </p:nvSpPr>
        <p:spPr>
          <a:xfrm>
            <a:off x="439938" y="439388"/>
            <a:ext cx="6675120" cy="5769864"/>
          </a:xfrm>
          <a:prstGeom prst="frame">
            <a:avLst>
              <a:gd name="adj1" fmla="val 19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449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777246"/>
            <a:ext cx="10058400" cy="1097280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2B970E0-2BF6-DE0A-33F2-E136830CC0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711243" y="2287435"/>
            <a:ext cx="8769514" cy="3768195"/>
          </a:xfrm>
        </p:spPr>
        <p:txBody>
          <a:bodyPr tIns="182880">
            <a:noAutofit/>
          </a:bodyPr>
          <a:lstStyle>
            <a:lvl1pPr marL="283464" indent="-283464">
              <a:lnSpc>
                <a:spcPct val="100000"/>
              </a:lnSpc>
              <a:spcBef>
                <a:spcPts val="1000"/>
              </a:spcBef>
              <a:defRPr sz="1800"/>
            </a:lvl1pPr>
            <a:lvl2pPr marL="283464">
              <a:lnSpc>
                <a:spcPct val="100000"/>
              </a:lnSpc>
              <a:spcBef>
                <a:spcPts val="1000"/>
              </a:spcBef>
              <a:defRPr sz="1800"/>
            </a:lvl2pPr>
            <a:lvl3pPr indent="-283464">
              <a:lnSpc>
                <a:spcPct val="100000"/>
              </a:lnSpc>
              <a:spcBef>
                <a:spcPts val="1000"/>
              </a:spcBef>
              <a:defRPr sz="18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 indent="-283464">
              <a:lnSpc>
                <a:spcPct val="1000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20574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C7C83-D77B-1EFF-5877-DB5DF792E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163" y="548640"/>
            <a:ext cx="11109674" cy="57492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79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70326" y="539751"/>
            <a:ext cx="4451349" cy="2082226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326" y="4248000"/>
            <a:ext cx="4451349" cy="2082226"/>
          </a:xfrm>
        </p:spPr>
        <p:txBody>
          <a:bodyPr>
            <a:norm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5304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6" r:id="rId1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44C236C2-8836-9186-1036-66D5AE13B65C}"/>
              </a:ext>
            </a:extLst>
          </p:cNvPr>
          <p:cNvSpPr txBox="1"/>
          <p:nvPr/>
        </p:nvSpPr>
        <p:spPr>
          <a:xfrm>
            <a:off x="2179667" y="143688"/>
            <a:ext cx="78326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sz="2800" b="1" dirty="0"/>
              <a:t>               </a:t>
            </a:r>
            <a:r>
              <a:rPr lang="en-US" sz="2800" b="1" dirty="0"/>
              <a:t>Project Name:</a:t>
            </a:r>
            <a:r>
              <a:rPr lang="en-US" sz="2800" dirty="0"/>
              <a:t> X-Compress</a:t>
            </a:r>
            <a:br>
              <a:rPr lang="en-US" sz="2800" dirty="0"/>
            </a:br>
            <a:endParaRPr lang="ar-EG" sz="2800" dirty="0"/>
          </a:p>
          <a:p>
            <a:endParaRPr lang="ar-EG" sz="2800" dirty="0"/>
          </a:p>
          <a:p>
            <a:r>
              <a:rPr lang="ar-EG" sz="2800" b="1" dirty="0"/>
              <a:t> </a:t>
            </a:r>
            <a:r>
              <a:rPr lang="en-US" sz="2800" b="1" dirty="0"/>
              <a:t>Title</a:t>
            </a:r>
            <a:r>
              <a:rPr lang="en-US" sz="2800" dirty="0"/>
              <a:t>: File Compression Utility using Python</a:t>
            </a:r>
          </a:p>
        </p:txBody>
      </p:sp>
      <p:sp>
        <p:nvSpPr>
          <p:cNvPr id="8" name="مربع نص 7">
            <a:extLst>
              <a:ext uri="{FF2B5EF4-FFF2-40B4-BE49-F238E27FC236}">
                <a16:creationId xmlns:a16="http://schemas.microsoft.com/office/drawing/2014/main" id="{1A216E1A-0605-3B4F-3B7E-B1C0227340CE}"/>
              </a:ext>
            </a:extLst>
          </p:cNvPr>
          <p:cNvSpPr txBox="1"/>
          <p:nvPr/>
        </p:nvSpPr>
        <p:spPr>
          <a:xfrm>
            <a:off x="288868" y="2216510"/>
            <a:ext cx="60973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Short intro text:</a:t>
            </a:r>
            <a:br>
              <a:rPr lang="en-US" dirty="0"/>
            </a:br>
            <a:r>
              <a:rPr lang="en-US" dirty="0"/>
              <a:t>X-Compress is a Python-based application designed for efficient file compression and decompression. It supports multiple file types and implements Huffman Tree encoding for text-based compression.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9C3BC7A6-9D8E-51B2-1E93-6058433B62A9}"/>
              </a:ext>
            </a:extLst>
          </p:cNvPr>
          <p:cNvSpPr txBox="1"/>
          <p:nvPr/>
        </p:nvSpPr>
        <p:spPr>
          <a:xfrm>
            <a:off x="2117668" y="1681542"/>
            <a:ext cx="3227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X-Compress?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E43F1951-BC50-ED66-E1E5-2E65D1CECBD2}"/>
              </a:ext>
            </a:extLst>
          </p:cNvPr>
          <p:cNvSpPr txBox="1"/>
          <p:nvPr/>
        </p:nvSpPr>
        <p:spPr>
          <a:xfrm>
            <a:off x="167294" y="2459504"/>
            <a:ext cx="96583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X-Compress</a:t>
            </a:r>
            <a:r>
              <a:rPr lang="en-US" sz="2000" dirty="0"/>
              <a:t> is a complete utility tool that allows users to compress, decompress, and manage files to save storage space. It provides:</a:t>
            </a:r>
          </a:p>
          <a:p>
            <a:r>
              <a:rPr lang="en-US" sz="2000" dirty="0"/>
              <a:t>High compression efficiency</a:t>
            </a:r>
          </a:p>
          <a:p>
            <a:r>
              <a:rPr lang="en-US" sz="2000" dirty="0"/>
              <a:t>Lossless data restoration</a:t>
            </a:r>
          </a:p>
          <a:p>
            <a:r>
              <a:rPr lang="en-US" sz="2000" dirty="0"/>
              <a:t>Support for multiple working modes</a:t>
            </a:r>
          </a:p>
          <a:p>
            <a:r>
              <a:rPr lang="en-US" sz="2000" dirty="0"/>
              <a:t>User-friendly interface (GUI + CLI)</a:t>
            </a:r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مربع نص 12">
            <a:extLst>
              <a:ext uri="{FF2B5EF4-FFF2-40B4-BE49-F238E27FC236}">
                <a16:creationId xmlns:a16="http://schemas.microsoft.com/office/drawing/2014/main" id="{BF441DC9-C5EB-70D1-F46C-F9E2D2E1FC34}"/>
              </a:ext>
            </a:extLst>
          </p:cNvPr>
          <p:cNvSpPr txBox="1"/>
          <p:nvPr/>
        </p:nvSpPr>
        <p:spPr>
          <a:xfrm>
            <a:off x="238992" y="1416086"/>
            <a:ext cx="116897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The compression system reduces file size by converting data into a more compact binary representation.</a:t>
            </a: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points:</a:t>
            </a:r>
            <a:r>
              <a:rPr lang="ar-EG" dirty="0"/>
              <a:t>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Lossless compression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Significant reduction in file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processing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large text and binary documents</a:t>
            </a:r>
            <a:endParaRPr lang="ar-EG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None/>
            </a:pPr>
            <a:r>
              <a:rPr lang="en-US" b="1" dirty="0"/>
              <a:t>Add a phrase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“It prevents storage waste and improves file transfer efficiency.”</a:t>
            </a: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121019F7-4E57-8292-D5D2-A2EF64AD2DF9}"/>
              </a:ext>
            </a:extLst>
          </p:cNvPr>
          <p:cNvSpPr txBox="1"/>
          <p:nvPr/>
        </p:nvSpPr>
        <p:spPr>
          <a:xfrm>
            <a:off x="147552" y="609200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Compression Feature</a:t>
            </a:r>
          </a:p>
        </p:txBody>
      </p:sp>
    </p:spTree>
    <p:extLst>
      <p:ext uri="{BB962C8B-B14F-4D97-AF65-F5344CB8AC3E}">
        <p14:creationId xmlns:p14="http://schemas.microsoft.com/office/powerpoint/2010/main" val="28414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E3565AC1-ADE5-BBF5-0925-C432E2B0EC70}"/>
              </a:ext>
            </a:extLst>
          </p:cNvPr>
          <p:cNvSpPr txBox="1"/>
          <p:nvPr/>
        </p:nvSpPr>
        <p:spPr>
          <a:xfrm>
            <a:off x="288868" y="1859339"/>
            <a:ext cx="96115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The decompression system rebuilds the original file perfectly.</a:t>
            </a: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points: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restoration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Reconstructs original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data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for single and multiple files</a:t>
            </a:r>
          </a:p>
          <a:p>
            <a:pPr>
              <a:buNone/>
            </a:pPr>
            <a:r>
              <a:rPr lang="en-US" dirty="0"/>
              <a:t>It proves the reliability and accuracy of the compression algorithm.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F8A66E38-D8BA-34E0-E6B3-D7355B5BA1AE}"/>
              </a:ext>
            </a:extLst>
          </p:cNvPr>
          <p:cNvSpPr txBox="1"/>
          <p:nvPr/>
        </p:nvSpPr>
        <p:spPr>
          <a:xfrm>
            <a:off x="155864" y="941707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Decompression Feature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3DEA233A-75C7-D5B6-6AFA-D9C63BAB21D2}"/>
              </a:ext>
            </a:extLst>
          </p:cNvPr>
          <p:cNvSpPr txBox="1"/>
          <p:nvPr/>
        </p:nvSpPr>
        <p:spPr>
          <a:xfrm>
            <a:off x="122612" y="1363532"/>
            <a:ext cx="116731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This is the heart of X-Compress.</a:t>
            </a:r>
            <a:endParaRPr lang="ar-EG" dirty="0"/>
          </a:p>
          <a:p>
            <a:pPr>
              <a:buNone/>
            </a:pP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Explain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Huffman Tree is a data-compression algorithm that assigns shorter binary codes to frequently used characters and longer codes to rare characters.</a:t>
            </a:r>
            <a:endParaRPr lang="ar-EG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compression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redundancy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Perfect for text-based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Encoding and decoding speeds are efficient</a:t>
            </a:r>
            <a:endParaRPr lang="ar-EG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One strong sentence:</a:t>
            </a:r>
            <a:br>
              <a:rPr lang="en-US" dirty="0"/>
            </a:br>
            <a:r>
              <a:rPr lang="en-US" dirty="0"/>
              <a:t>“Huffman Tree is the core mathematical structure that enables X-Compress to produce compact and lossless output.”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B5593BB5-1212-1BD6-9DBB-4AF388BD0E12}"/>
              </a:ext>
            </a:extLst>
          </p:cNvPr>
          <p:cNvSpPr txBox="1"/>
          <p:nvPr/>
        </p:nvSpPr>
        <p:spPr>
          <a:xfrm>
            <a:off x="122613" y="590446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Huffman Tree Encoding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904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ربع نص 6">
            <a:extLst>
              <a:ext uri="{FF2B5EF4-FFF2-40B4-BE49-F238E27FC236}">
                <a16:creationId xmlns:a16="http://schemas.microsoft.com/office/drawing/2014/main" id="{09741AC2-2FB9-AC18-1702-12519C9BE984}"/>
              </a:ext>
            </a:extLst>
          </p:cNvPr>
          <p:cNvSpPr txBox="1"/>
          <p:nvPr/>
        </p:nvSpPr>
        <p:spPr>
          <a:xfrm>
            <a:off x="280555" y="638603"/>
            <a:ext cx="100937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Describe scenario:</a:t>
            </a:r>
            <a:endParaRPr lang="ar-EG" b="1" dirty="0"/>
          </a:p>
          <a:p>
            <a:pPr>
              <a:buNone/>
            </a:pPr>
            <a:br>
              <a:rPr lang="en-US" b="1" dirty="0"/>
            </a:br>
            <a:r>
              <a:rPr lang="en-US" b="1" dirty="0"/>
              <a:t>Users can choose a single file to compress or decompress, making the tool suitable for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files</a:t>
            </a:r>
            <a:endParaRPr lang="ar-EG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Benefits:</a:t>
            </a:r>
            <a:br>
              <a:rPr lang="en-US" dirty="0"/>
            </a:br>
            <a:r>
              <a:rPr lang="en-US" dirty="0"/>
              <a:t>Fast, simple, user-friendly, minimal memory usage.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078EB3E5-0C6B-8A41-286C-EC43C900C112}"/>
              </a:ext>
            </a:extLst>
          </p:cNvPr>
          <p:cNvSpPr txBox="1"/>
          <p:nvPr/>
        </p:nvSpPr>
        <p:spPr>
          <a:xfrm>
            <a:off x="164176" y="176938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Single File Compression</a:t>
            </a:r>
            <a:endParaRPr lang="en-US" sz="2400" dirty="0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BC5C4EC7-B8DC-B5D3-74F0-01D21EBC3573}"/>
              </a:ext>
            </a:extLst>
          </p:cNvPr>
          <p:cNvSpPr txBox="1"/>
          <p:nvPr/>
        </p:nvSpPr>
        <p:spPr>
          <a:xfrm>
            <a:off x="280555" y="4067571"/>
            <a:ext cx="94702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dirty="0"/>
              <a:t>X-Compress supports compressing multiple files at once: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a single archive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Ideal for bulk 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structure of files inside the archive</a:t>
            </a:r>
            <a:endParaRPr lang="ar-EG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This is an advanced feature compared with normal tools.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CDE69A3C-5CAC-86EF-D18E-E7011B75F52A}"/>
              </a:ext>
            </a:extLst>
          </p:cNvPr>
          <p:cNvSpPr txBox="1"/>
          <p:nvPr/>
        </p:nvSpPr>
        <p:spPr>
          <a:xfrm>
            <a:off x="81049" y="3500925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Multiple File Compression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072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D2E1-433C-C4E7-CCB5-A94E5403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A8F01C7-F10B-08CE-41B7-9823A85A4514}"/>
              </a:ext>
            </a:extLst>
          </p:cNvPr>
          <p:cNvSpPr txBox="1"/>
          <p:nvPr/>
        </p:nvSpPr>
        <p:spPr>
          <a:xfrm>
            <a:off x="455120" y="757765"/>
            <a:ext cx="68850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X-Compress is not limited to text data. It handles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Executable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Videos (future support)</a:t>
            </a:r>
          </a:p>
          <a:p>
            <a:pPr>
              <a:buNone/>
            </a:pPr>
            <a:endParaRPr lang="ar-EG" dirty="0"/>
          </a:p>
          <a:p>
            <a:pPr>
              <a:buNone/>
            </a:pPr>
            <a:r>
              <a:rPr lang="en-US" b="1" dirty="0"/>
              <a:t>How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 system reads binary streams and uses a custom encoder to compress non-text content effectively.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F2A65685-2526-6007-C7C8-61DB5C0A26D4}"/>
              </a:ext>
            </a:extLst>
          </p:cNvPr>
          <p:cNvSpPr txBox="1"/>
          <p:nvPr/>
        </p:nvSpPr>
        <p:spPr>
          <a:xfrm>
            <a:off x="230679" y="210188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Binary File Support</a:t>
            </a:r>
            <a:endParaRPr lang="en-US" sz="24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8BC8A9A-A762-24B4-B88A-E7E9DF73D2D9}"/>
              </a:ext>
            </a:extLst>
          </p:cNvPr>
          <p:cNvSpPr txBox="1"/>
          <p:nvPr/>
        </p:nvSpPr>
        <p:spPr>
          <a:xfrm>
            <a:off x="455120" y="3980936"/>
            <a:ext cx="60973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Process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1 - User selects file / multiple files</a:t>
            </a:r>
            <a:br>
              <a:rPr lang="en-US" dirty="0"/>
            </a:br>
            <a:r>
              <a:rPr lang="en-US" dirty="0"/>
              <a:t>2 - System reads input data</a:t>
            </a:r>
            <a:br>
              <a:rPr lang="en-US" dirty="0"/>
            </a:br>
            <a:r>
              <a:rPr lang="en-US" dirty="0"/>
              <a:t>3 - Huffman Tree creates encoding</a:t>
            </a:r>
            <a:br>
              <a:rPr lang="en-US" dirty="0"/>
            </a:br>
            <a:r>
              <a:rPr lang="en-US" dirty="0"/>
              <a:t>4 - Compressed file generated</a:t>
            </a:r>
            <a:br>
              <a:rPr lang="en-US" dirty="0"/>
            </a:br>
            <a:r>
              <a:rPr lang="en-US" dirty="0"/>
              <a:t>5 - For decompression → reverse encoding</a:t>
            </a:r>
            <a:br>
              <a:rPr lang="en-US" dirty="0"/>
            </a:br>
            <a:r>
              <a:rPr lang="en-US" dirty="0"/>
              <a:t>6 - Original file returns exactly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This shows full life cycle.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7362C843-74B4-4E99-5881-DAD8431F2D45}"/>
              </a:ext>
            </a:extLst>
          </p:cNvPr>
          <p:cNvSpPr txBox="1"/>
          <p:nvPr/>
        </p:nvSpPr>
        <p:spPr>
          <a:xfrm>
            <a:off x="156558" y="3429000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139258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E3E8-7E29-5E61-63B6-7346C0FA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56D35AB-0D89-0AD6-F3F9-B23DFE55F89E}"/>
              </a:ext>
            </a:extLst>
          </p:cNvPr>
          <p:cNvSpPr txBox="1"/>
          <p:nvPr/>
        </p:nvSpPr>
        <p:spPr>
          <a:xfrm>
            <a:off x="371995" y="887744"/>
            <a:ext cx="11274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X-Compress is built using a modular architecture.</a:t>
            </a:r>
            <a:br>
              <a:rPr lang="en-US" dirty="0"/>
            </a:br>
            <a:r>
              <a:rPr lang="en-US" dirty="0"/>
              <a:t>This means the whole system is divided into separate logical parts, and every part has its own job.</a:t>
            </a:r>
            <a:br>
              <a:rPr lang="en-US" dirty="0"/>
            </a:br>
            <a:r>
              <a:rPr lang="en-US" dirty="0"/>
              <a:t>This structure makes the project professional, easy to understand, and easy to upgrade in the future.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3C40992D-F199-F207-23FF-2C6F545B3A6B}"/>
              </a:ext>
            </a:extLst>
          </p:cNvPr>
          <p:cNvSpPr txBox="1"/>
          <p:nvPr/>
        </p:nvSpPr>
        <p:spPr>
          <a:xfrm>
            <a:off x="371995" y="2991858"/>
            <a:ext cx="1103306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This is the brain of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It starts the program and connects all modules together.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It decides whether the user will run the program using the GUI mode or the CLI mode.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  It also sends tasks to the compressor and decompressor functions.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Short meaning:</a:t>
            </a:r>
            <a:br>
              <a:rPr lang="en-US" dirty="0"/>
            </a:br>
            <a:r>
              <a:rPr lang="en-US" dirty="0"/>
              <a:t>      main.py controls everything and manages the workflow.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A1889F07-6125-C9B5-AD18-4BCF04858F92}"/>
              </a:ext>
            </a:extLst>
          </p:cNvPr>
          <p:cNvSpPr txBox="1"/>
          <p:nvPr/>
        </p:nvSpPr>
        <p:spPr>
          <a:xfrm>
            <a:off x="155864" y="368130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System Architecture </a:t>
            </a:r>
            <a:endParaRPr lang="ar-EG" sz="2400" b="1" dirty="0"/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C0C94934-BAAD-53D3-0B91-5041626F8BCB}"/>
              </a:ext>
            </a:extLst>
          </p:cNvPr>
          <p:cNvSpPr txBox="1"/>
          <p:nvPr/>
        </p:nvSpPr>
        <p:spPr>
          <a:xfrm>
            <a:off x="155864" y="2687381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1- Main Controller (main.py)</a:t>
            </a:r>
          </a:p>
        </p:txBody>
      </p:sp>
    </p:spTree>
    <p:extLst>
      <p:ext uri="{BB962C8B-B14F-4D97-AF65-F5344CB8AC3E}">
        <p14:creationId xmlns:p14="http://schemas.microsoft.com/office/powerpoint/2010/main" val="878305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A2E2-FE83-ECCC-A469-E0AFE223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843CF352-7D62-ABDD-1D5A-CA1522FB3407}"/>
              </a:ext>
            </a:extLst>
          </p:cNvPr>
          <p:cNvSpPr txBox="1"/>
          <p:nvPr/>
        </p:nvSpPr>
        <p:spPr>
          <a:xfrm>
            <a:off x="338744" y="379535"/>
            <a:ext cx="1094994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2 - GUI Interface (User Interface Layer)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using </a:t>
            </a:r>
            <a:r>
              <a:rPr lang="en-US" dirty="0" err="1"/>
              <a:t>PyQt</a:t>
            </a:r>
            <a:r>
              <a:rPr lang="en-US" dirty="0"/>
              <a:t> to provide a friendly visual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users to select files, choose compression or decompression, and view final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coding knowledge is required to use the program.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None/>
            </a:pPr>
            <a:r>
              <a:rPr lang="en-US" b="1" dirty="0"/>
              <a:t>Short meaning:</a:t>
            </a:r>
            <a:br>
              <a:rPr lang="en-US" dirty="0"/>
            </a:br>
            <a:r>
              <a:rPr lang="en-US" dirty="0"/>
              <a:t>GUI makes the system usable for normal people, not just developers.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0ECBDB01-1602-AFAF-AB6C-DF33ADD561B9}"/>
              </a:ext>
            </a:extLst>
          </p:cNvPr>
          <p:cNvSpPr txBox="1"/>
          <p:nvPr/>
        </p:nvSpPr>
        <p:spPr>
          <a:xfrm>
            <a:off x="554874" y="3751824"/>
            <a:ext cx="1073380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part contains the Huffman algorithm and all compression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reads the file, builds a Huffman Tree, encodes the content, and writes the compressed output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single file, multiple files, and binary file compression modes.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400" b="1" dirty="0"/>
              <a:t>Short meaning:</a:t>
            </a:r>
            <a:br>
              <a:rPr lang="en-US" dirty="0"/>
            </a:br>
            <a:r>
              <a:rPr lang="en-US" dirty="0"/>
              <a:t>This is the heart of the project — where data actually gets compressed.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BF550582-5B47-88FE-5585-60A39E3AB90F}"/>
              </a:ext>
            </a:extLst>
          </p:cNvPr>
          <p:cNvSpPr txBox="1"/>
          <p:nvPr/>
        </p:nvSpPr>
        <p:spPr>
          <a:xfrm>
            <a:off x="130925" y="3244334"/>
            <a:ext cx="81152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3 - Compressor Core (Compression Engine)</a:t>
            </a:r>
          </a:p>
        </p:txBody>
      </p:sp>
    </p:spTree>
    <p:extLst>
      <p:ext uri="{BB962C8B-B14F-4D97-AF65-F5344CB8AC3E}">
        <p14:creationId xmlns:p14="http://schemas.microsoft.com/office/powerpoint/2010/main" val="31947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2B7B-CF2E-F966-D959-2A146EF4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E2E18B0E-679C-A58C-0551-1A32664F2106}"/>
              </a:ext>
            </a:extLst>
          </p:cNvPr>
          <p:cNvSpPr txBox="1"/>
          <p:nvPr/>
        </p:nvSpPr>
        <p:spPr>
          <a:xfrm>
            <a:off x="463088" y="903717"/>
            <a:ext cx="1126582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does the opposite of compression.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reads the compressed file, decodes the Huffman data, and rebuilds the original file exactly.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for both single and multiple file modes.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sz="2400" b="1" dirty="0"/>
              <a:t>Short meaning:</a:t>
            </a:r>
            <a:br>
              <a:rPr lang="en-US" dirty="0"/>
            </a:br>
            <a:r>
              <a:rPr lang="en-US" dirty="0"/>
              <a:t> It guarantees lossless recovery — no information is lost.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48A25D20-08BE-F8FF-E1BD-D9B0D0C352F5}"/>
              </a:ext>
            </a:extLst>
          </p:cNvPr>
          <p:cNvSpPr txBox="1"/>
          <p:nvPr/>
        </p:nvSpPr>
        <p:spPr>
          <a:xfrm>
            <a:off x="122613" y="343192"/>
            <a:ext cx="9403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4 -  Decompressor Core (Extraction Engine)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D305520-3C7E-5B0E-33E7-88DF11CD625F}"/>
              </a:ext>
            </a:extLst>
          </p:cNvPr>
          <p:cNvSpPr txBox="1"/>
          <p:nvPr/>
        </p:nvSpPr>
        <p:spPr>
          <a:xfrm>
            <a:off x="388273" y="4008116"/>
            <a:ext cx="86725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Calculates compression ratios (before vs after).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Compares file size and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the user understand how effective compression was.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Short meaning:</a:t>
            </a:r>
            <a:br>
              <a:rPr lang="en-US" dirty="0"/>
            </a:br>
            <a:r>
              <a:rPr lang="en-US" dirty="0"/>
              <a:t> This part provides useful statistics and performance feedback.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38DDAF2B-2BEA-9AB3-DF9B-EE2BC9C71C64}"/>
              </a:ext>
            </a:extLst>
          </p:cNvPr>
          <p:cNvSpPr txBox="1"/>
          <p:nvPr/>
        </p:nvSpPr>
        <p:spPr>
          <a:xfrm>
            <a:off x="64424" y="3502029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5 - Utils &amp; Stats Module</a:t>
            </a:r>
          </a:p>
        </p:txBody>
      </p:sp>
    </p:spTree>
    <p:extLst>
      <p:ext uri="{BB962C8B-B14F-4D97-AF65-F5344CB8AC3E}">
        <p14:creationId xmlns:p14="http://schemas.microsoft.com/office/powerpoint/2010/main" val="230559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161A5-B601-C00D-7348-78A0B9CA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6B77987F-B409-423E-1EF1-1617237C7F8E}"/>
              </a:ext>
            </a:extLst>
          </p:cNvPr>
          <p:cNvSpPr txBox="1"/>
          <p:nvPr/>
        </p:nvSpPr>
        <p:spPr>
          <a:xfrm>
            <a:off x="550718" y="897605"/>
            <a:ext cx="83522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important messages and errors.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debugging and tracking program activities.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future improvements.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Short meaning:</a:t>
            </a:r>
            <a:br>
              <a:rPr lang="en-US" dirty="0"/>
            </a:br>
            <a:r>
              <a:rPr lang="en-US" dirty="0"/>
              <a:t>   It records what happened during program execution.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C83E86CD-A8BB-F859-940F-C722391C77BA}"/>
              </a:ext>
            </a:extLst>
          </p:cNvPr>
          <p:cNvSpPr txBox="1"/>
          <p:nvPr/>
        </p:nvSpPr>
        <p:spPr>
          <a:xfrm>
            <a:off x="374074" y="293315"/>
            <a:ext cx="3241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6 - Logs System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611CD5FB-3205-0CAB-844D-1DCA0BCDED04}"/>
              </a:ext>
            </a:extLst>
          </p:cNvPr>
          <p:cNvSpPr txBox="1"/>
          <p:nvPr/>
        </p:nvSpPr>
        <p:spPr>
          <a:xfrm>
            <a:off x="374074" y="3927764"/>
            <a:ext cx="117853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It makes the system clean, modular, easy to maintain, and professional. Each module does one job, so the whole project becomes more flexible and easier to improve.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94CCC235-C3BA-05A0-3AAA-111337A7996B}"/>
              </a:ext>
            </a:extLst>
          </p:cNvPr>
          <p:cNvSpPr txBox="1"/>
          <p:nvPr/>
        </p:nvSpPr>
        <p:spPr>
          <a:xfrm>
            <a:off x="214053" y="3429000"/>
            <a:ext cx="6147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this architecture?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620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5F2D-A18B-59C9-A134-E66BFA94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09EEA1FB-0040-D60F-CC01-736CCA245568}"/>
              </a:ext>
            </a:extLst>
          </p:cNvPr>
          <p:cNvSpPr txBox="1"/>
          <p:nvPr/>
        </p:nvSpPr>
        <p:spPr>
          <a:xfrm>
            <a:off x="513311" y="763293"/>
            <a:ext cx="60973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compression ratio for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Mathematically optimal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storage overhead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Proven reliable</a:t>
            </a:r>
            <a:endParaRPr lang="ar-EG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Text file 10MB → becomes 3MB or less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134DDFF3-31E7-B6E4-7818-0ECEE8B77FA8}"/>
              </a:ext>
            </a:extLst>
          </p:cNvPr>
          <p:cNvSpPr txBox="1"/>
          <p:nvPr/>
        </p:nvSpPr>
        <p:spPr>
          <a:xfrm>
            <a:off x="222365" y="301628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Huffman?</a:t>
            </a:r>
          </a:p>
        </p:txBody>
      </p:sp>
    </p:spTree>
    <p:extLst>
      <p:ext uri="{BB962C8B-B14F-4D97-AF65-F5344CB8AC3E}">
        <p14:creationId xmlns:p14="http://schemas.microsoft.com/office/powerpoint/2010/main" val="3707420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A9BA-552B-139B-5FDD-27E8B0D9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C786642A-3929-C5DC-22E5-61D533BA6673}"/>
              </a:ext>
            </a:extLst>
          </p:cNvPr>
          <p:cNvSpPr txBox="1"/>
          <p:nvPr/>
        </p:nvSpPr>
        <p:spPr>
          <a:xfrm>
            <a:off x="471748" y="989661"/>
            <a:ext cx="60973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1 - Fast and lightweight</a:t>
            </a:r>
          </a:p>
          <a:p>
            <a:r>
              <a:rPr lang="en-US" sz="2400" dirty="0"/>
              <a:t>2 - Supports multiple file formats</a:t>
            </a:r>
          </a:p>
          <a:p>
            <a:r>
              <a:rPr lang="en-US" sz="2400" dirty="0"/>
              <a:t>3 - Accurate compression</a:t>
            </a:r>
          </a:p>
          <a:p>
            <a:r>
              <a:rPr lang="en-US" sz="2400" dirty="0"/>
              <a:t>4 - Secure lossless restoration</a:t>
            </a:r>
          </a:p>
          <a:p>
            <a:r>
              <a:rPr lang="en-US" sz="2400" dirty="0"/>
              <a:t>5 - Professional GUI</a:t>
            </a:r>
          </a:p>
          <a:p>
            <a:r>
              <a:rPr lang="en-US" sz="2400" dirty="0"/>
              <a:t>6 - CLI mode for automation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81E53B75-8E24-F452-2065-53632E7DA204}"/>
              </a:ext>
            </a:extLst>
          </p:cNvPr>
          <p:cNvSpPr txBox="1"/>
          <p:nvPr/>
        </p:nvSpPr>
        <p:spPr>
          <a:xfrm>
            <a:off x="305493" y="384756"/>
            <a:ext cx="6097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Advantages of X-Compress</a:t>
            </a:r>
            <a:endParaRPr lang="en-US" sz="2800" dirty="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EF00649C-1BDB-DFA1-5703-8B44E2F95012}"/>
              </a:ext>
            </a:extLst>
          </p:cNvPr>
          <p:cNvSpPr txBox="1"/>
          <p:nvPr/>
        </p:nvSpPr>
        <p:spPr>
          <a:xfrm>
            <a:off x="550373" y="4425566"/>
            <a:ext cx="11091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X-Compress demonstrates real data-compression power using Huffman Tree encoding combined with Python’s modular architecture.</a:t>
            </a:r>
            <a:br>
              <a:rPr lang="en-US" dirty="0"/>
            </a:br>
            <a:r>
              <a:rPr lang="en-US" dirty="0"/>
              <a:t>It is a complete, innovative, and highly efficient solution for modern file storage needs.</a:t>
            </a:r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89A191B1-A219-2897-67E7-87D008155817}"/>
              </a:ext>
            </a:extLst>
          </p:cNvPr>
          <p:cNvSpPr txBox="1"/>
          <p:nvPr/>
        </p:nvSpPr>
        <p:spPr>
          <a:xfrm>
            <a:off x="305493" y="3711153"/>
            <a:ext cx="6097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23583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52CD-4C4C-9E44-BE9B-72AB9835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26" y="1986741"/>
            <a:ext cx="4451349" cy="6352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8479395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{F2BE686E-4881-4BEB-AB8D-756F9BC3A0CB}TF385b1cbf-3839-423f-83d2-95cf4a9c3729fd5865f9_win32-20bec0195517</Template>
  <TotalTime>65</TotalTime>
  <Words>985</Words>
  <Application>Microsoft Office PowerPoint</Application>
  <PresentationFormat>شاشة عريضة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20" baseType="lpstr">
      <vt:lpstr>Arial</vt:lpstr>
      <vt:lpstr>Avenir Next LT Pro Light</vt:lpstr>
      <vt:lpstr>Calibri</vt:lpstr>
      <vt:lpstr>Rockwell Nova Light</vt:lpstr>
      <vt:lpstr>Wingdings</vt:lpstr>
      <vt:lpstr>LeafVTI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Ahmed</dc:creator>
  <cp:lastModifiedBy>Omar Ahmed</cp:lastModifiedBy>
  <cp:revision>1</cp:revision>
  <dcterms:created xsi:type="dcterms:W3CDTF">2025-12-19T21:52:36Z</dcterms:created>
  <dcterms:modified xsi:type="dcterms:W3CDTF">2025-12-19T22:57:51Z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